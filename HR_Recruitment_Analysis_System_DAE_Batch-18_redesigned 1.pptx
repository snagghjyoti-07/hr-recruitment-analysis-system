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8"/>
  </p:notesMasterIdLst>
  <p:handoutMasterIdLst>
    <p:handoutMasterId r:id="rId29"/>
  </p:handout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2" r:id="rId9"/>
    <p:sldId id="300" r:id="rId10"/>
    <p:sldId id="301" r:id="rId11"/>
    <p:sldId id="303" r:id="rId12"/>
    <p:sldId id="312" r:id="rId13"/>
    <p:sldId id="304" r:id="rId14"/>
    <p:sldId id="313" r:id="rId15"/>
    <p:sldId id="305" r:id="rId16"/>
    <p:sldId id="314" r:id="rId17"/>
    <p:sldId id="306" r:id="rId18"/>
    <p:sldId id="309" r:id="rId19"/>
    <p:sldId id="307" r:id="rId20"/>
    <p:sldId id="310" r:id="rId21"/>
    <p:sldId id="308" r:id="rId22"/>
    <p:sldId id="311" r:id="rId23"/>
    <p:sldId id="315" r:id="rId24"/>
    <p:sldId id="316" r:id="rId25"/>
    <p:sldId id="317" r:id="rId26"/>
    <p:sldId id="29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2" autoAdjust="0"/>
  </p:normalViewPr>
  <p:slideViewPr>
    <p:cSldViewPr>
      <p:cViewPr varScale="1">
        <p:scale>
          <a:sx n="76" d="100"/>
          <a:sy n="76" d="100"/>
        </p:scale>
        <p:origin x="29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349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30-09-2026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9445752" cy="1463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4200" b="1" i="0">
                <a:solidFill>
                  <a:srgbClr val="1F3864"/>
                </a:solidFill>
                <a:latin typeface="Times New Roman"/>
              </a:rPr>
              <a:t>Human Resource Recruitment Analysis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2327" y="3977639"/>
            <a:ext cx="3383280" cy="868680"/>
          </a:xfrm>
          <a:prstGeom prst="roundRect">
            <a:avLst>
              <a:gd name="adj" fmla="val 947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Calibri"/>
              </a:rPr>
              <a:t>V. Sudeepthi</a:t>
            </a:r>
          </a:p>
          <a:p>
            <a:pPr algn="ctr"/>
            <a:r>
              <a:rPr sz="1400" b="0" i="0">
                <a:solidFill>
                  <a:srgbClr val="595959"/>
                </a:solidFill>
                <a:latin typeface="Calibri"/>
              </a:rPr>
              <a:t>(25B11CS979)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04207" y="3977639"/>
            <a:ext cx="3383280" cy="868680"/>
          </a:xfrm>
          <a:prstGeom prst="roundRect">
            <a:avLst>
              <a:gd name="adj" fmla="val 947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Calibri"/>
              </a:rPr>
              <a:t>S. S. Naggh Jyoti</a:t>
            </a:r>
          </a:p>
          <a:p>
            <a:pPr algn="ctr"/>
            <a:r>
              <a:rPr sz="1400" b="0" i="0">
                <a:solidFill>
                  <a:srgbClr val="595959"/>
                </a:solidFill>
                <a:latin typeface="Calibri"/>
              </a:rPr>
              <a:t>(25B11CS863)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3977639"/>
            <a:ext cx="3383280" cy="868680"/>
          </a:xfrm>
          <a:prstGeom prst="roundRect">
            <a:avLst>
              <a:gd name="adj" fmla="val 947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Calibri"/>
              </a:rPr>
              <a:t>A. Hari Charani</a:t>
            </a:r>
          </a:p>
          <a:p>
            <a:pPr algn="ctr"/>
            <a:r>
              <a:rPr sz="1400" b="0" i="0">
                <a:solidFill>
                  <a:srgbClr val="595959"/>
                </a:solidFill>
                <a:latin typeface="Calibri"/>
              </a:rPr>
              <a:t>(25B11CS047)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166360"/>
            <a:ext cx="6702552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Department of CSE</a:t>
            </a:r>
          </a:p>
          <a:p>
            <a:pPr algn="ctr"/>
            <a:r>
              <a:rPr sz="1800" b="0" i="0">
                <a:solidFill>
                  <a:srgbClr val="1F3864"/>
                </a:solidFill>
                <a:latin typeface="Calibri"/>
              </a:rPr>
              <a:t>Aditya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Project                                                                Human Resource Recruitment Analysis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436FE6-483D-6596-08A0-D2CF4903F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365" y="1417320"/>
            <a:ext cx="4528181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  <a:latin typeface="Times New Roman"/>
              </a:rPr>
              <a:t>Introduction to the 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6309360" cy="960120"/>
          </a:xfrm>
          <a:prstGeom prst="roundRect">
            <a:avLst>
              <a:gd name="adj" fmla="val 8571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Human Resource (HR) recruitment is the process of 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identifying, evaluating, and selecting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 suitable candidates for an organization.</a:t>
            </a:r>
          </a:p>
        </p:txBody>
      </p:sp>
      <p:sp>
        <p:nvSpPr>
          <p:cNvPr id="9" name="Oval 8"/>
          <p:cNvSpPr/>
          <p:nvPr/>
        </p:nvSpPr>
        <p:spPr>
          <a:xfrm>
            <a:off x="704088" y="170535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6309360" cy="731520"/>
          </a:xfrm>
          <a:prstGeom prst="roundRect">
            <a:avLst>
              <a:gd name="adj" fmla="val 1124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Recruitment decisions directly influence workforce quality and long-term organizational productivity.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" y="268833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6309360" cy="731520"/>
          </a:xfrm>
          <a:prstGeom prst="roundRect">
            <a:avLst>
              <a:gd name="adj" fmla="val 1124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Growing applicant volumes make 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manual evaluation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 time-consuming, inconsistent, and prone to error.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6309360" cy="960120"/>
          </a:xfrm>
          <a:prstGeom prst="roundRect">
            <a:avLst>
              <a:gd name="adj" fmla="val 8571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Data analytics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 offers a structured, objective approach to understanding candidate qualification, experience, and department-wise trends.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453999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6309360" cy="731520"/>
          </a:xfrm>
          <a:prstGeom prst="roundRect">
            <a:avLst>
              <a:gd name="adj" fmla="val 1124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This project applies 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Python-based data analysis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 to bring efficiency and objectivity to recruitment decisions.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552297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Project                                                                Human Resource Recruitment Analysis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18E1F5-2666-3D38-E9F9-6069E0750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656794"/>
            <a:ext cx="4553712" cy="41844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6309360" cy="1207770"/>
          </a:xfrm>
          <a:prstGeom prst="roundRect">
            <a:avLst>
              <a:gd name="adj" fmla="val 681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Recruiters must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manually review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 large volumes of candidate data such as qualification, experience, and department.</a:t>
            </a:r>
          </a:p>
        </p:txBody>
      </p:sp>
      <p:sp>
        <p:nvSpPr>
          <p:cNvPr id="9" name="Oval 8"/>
          <p:cNvSpPr/>
          <p:nvPr/>
        </p:nvSpPr>
        <p:spPr>
          <a:xfrm>
            <a:off x="704088" y="182918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62249"/>
            <a:ext cx="6309360" cy="918210"/>
          </a:xfrm>
          <a:prstGeom prst="roundRect">
            <a:avLst>
              <a:gd name="adj" fmla="val 8962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Manual analysis is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time-consuming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 and susceptible to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human error and unconscious bias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" y="302933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17620"/>
            <a:ext cx="6309360" cy="918210"/>
          </a:xfrm>
          <a:prstGeom prst="roundRect">
            <a:avLst>
              <a:gd name="adj" fmla="val 8962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Absence of a structured system makes it difficult to compare candidates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objectively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" y="408470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72990"/>
            <a:ext cx="6309360" cy="1207770"/>
          </a:xfrm>
          <a:prstGeom prst="roundRect">
            <a:avLst>
              <a:gd name="adj" fmla="val 681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There is a clear need for a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systematic, automated approach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 to organize and analyze recruitment data efficiently.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528485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Project                                                                Human Resource Recruitment Analysis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110537-0805-0683-0161-47DB81AF9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624880"/>
            <a:ext cx="4553712" cy="42483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  <a:latin typeface="Times New Roman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6309360" cy="822960"/>
          </a:xfrm>
          <a:prstGeom prst="roundRect">
            <a:avLst>
              <a:gd name="adj" fmla="val 999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Import and organize recruitment data using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Python and the Pandas library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704088" y="163677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6309360" cy="822960"/>
          </a:xfrm>
          <a:prstGeom prst="roundRect">
            <a:avLst>
              <a:gd name="adj" fmla="val 999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Preprocess the data by handling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missing values and duplicate records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" y="259689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6309360" cy="822960"/>
          </a:xfrm>
          <a:prstGeom prst="roundRect">
            <a:avLst>
              <a:gd name="adj" fmla="val 999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Analyze recruitment trends across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departments, qualifications, and experience levels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6309360" cy="822960"/>
          </a:xfrm>
          <a:prstGeom prst="roundRect">
            <a:avLst>
              <a:gd name="adj" fmla="val 999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Visualize key insights using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bar charts, pie charts, and histograms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451713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57800"/>
            <a:ext cx="6309360" cy="822960"/>
          </a:xfrm>
          <a:prstGeom prst="roundRect">
            <a:avLst>
              <a:gd name="adj" fmla="val 999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Rank candidates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based on evaluation scores to support data-driven hiring decisions.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547725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Project                                                                Human Resource Recruitment Analysis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6C77C6-3545-B972-C9E1-C0FFD6980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54" y="1417320"/>
            <a:ext cx="3865203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  <a:latin typeface="Times New Roman"/>
              </a:rPr>
              <a:t>Dataset Selection &amp; Justification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6309360" cy="731520"/>
          </a:xfrm>
          <a:prstGeom prst="roundRect">
            <a:avLst>
              <a:gd name="adj" fmla="val 1124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A structured “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HR recruitment dataset containing 1,000 candidate records”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 was selected for the project.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" y="159105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6000"/>
            <a:ext cx="6309360" cy="960120"/>
          </a:xfrm>
          <a:prstGeom prst="roundRect">
            <a:avLst>
              <a:gd name="adj" fmla="val 8571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The dataset contains important recruitment attributes such as 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qualification, experience, department, status, and evaluation scores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" y="257403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6309360" cy="731520"/>
          </a:xfrm>
          <a:prstGeom prst="roundRect">
            <a:avLst>
              <a:gd name="adj" fmla="val 1124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The dataset is stored in CSV format, making it suitable for processing using Python and Pandas.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6309360" cy="960120"/>
          </a:xfrm>
          <a:prstGeom prst="roundRect">
            <a:avLst>
              <a:gd name="adj" fmla="val 8571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The dataset provides sufficient records and attributes to perform candidate analysis, filtering, recruitment statistics, and visualization.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453999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6309360" cy="731520"/>
          </a:xfrm>
          <a:prstGeom prst="roundRect">
            <a:avLst>
              <a:gd name="adj" fmla="val 1124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It also supports the 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candidate ranking enhancement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using evaluation scores.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" y="552297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Project                                                                Human Resource Recruitment Analysis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1F7A811-E357-A8FA-D85D-FE455C30A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742175"/>
              </p:ext>
            </p:extLst>
          </p:nvPr>
        </p:nvGraphicFramePr>
        <p:xfrm>
          <a:off x="1188720" y="1371600"/>
          <a:ext cx="9811512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131261038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98765659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sz="1500" i="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sz="1500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7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Candidate_ID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>
                          <a:solidFill>
                            <a:srgbClr val="262626"/>
                          </a:solidFill>
                          <a:latin typeface="Calibri"/>
                        </a:rPr>
                        <a:t>Unique identifier of the candidate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6956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>
                          <a:solidFill>
                            <a:srgbClr val="262626"/>
                          </a:solidFill>
                          <a:latin typeface="Calibri"/>
                        </a:rPr>
                        <a:t>Candidate name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7983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Qualification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>
                          <a:solidFill>
                            <a:srgbClr val="262626"/>
                          </a:solidFill>
                          <a:latin typeface="Calibri"/>
                        </a:rPr>
                        <a:t>Educational qualification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3455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Experience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>
                          <a:solidFill>
                            <a:srgbClr val="262626"/>
                          </a:solidFill>
                          <a:latin typeface="Calibri"/>
                        </a:rPr>
                        <a:t>Years of professional experience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459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>
                          <a:solidFill>
                            <a:srgbClr val="262626"/>
                          </a:solidFill>
                          <a:latin typeface="Calibri"/>
                        </a:rPr>
                        <a:t>Department associated with the candidate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2803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>
                          <a:solidFill>
                            <a:srgbClr val="262626"/>
                          </a:solidFill>
                          <a:latin typeface="Calibri"/>
                        </a:rPr>
                        <a:t>Recruitment status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012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Education_Score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>
                          <a:solidFill>
                            <a:srgbClr val="262626"/>
                          </a:solidFill>
                          <a:latin typeface="Calibri"/>
                        </a:rPr>
                        <a:t>Score based on education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0360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Interview_Score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>
                          <a:solidFill>
                            <a:srgbClr val="262626"/>
                          </a:solidFill>
                          <a:latin typeface="Calibri"/>
                        </a:rPr>
                        <a:t>Interview evaluation score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828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Skills_Score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>
                          <a:solidFill>
                            <a:srgbClr val="262626"/>
                          </a:solidFill>
                          <a:latin typeface="Calibri"/>
                        </a:rPr>
                        <a:t>Skills evaluation score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797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i="0">
                          <a:solidFill>
                            <a:srgbClr val="1F3864"/>
                          </a:solidFill>
                          <a:latin typeface="Calibri"/>
                        </a:rPr>
                        <a:t>Final_Score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z="1400" b="0" i="0">
                          <a:solidFill>
                            <a:srgbClr val="262626"/>
                          </a:solidFill>
                          <a:latin typeface="Calibri"/>
                        </a:rPr>
                        <a:t>Overall evaluation score</a:t>
                      </a:r>
                    </a:p>
                  </a:txBody>
                  <a:tcPr anchor="ctr" marL="182880" marR="137160" marT="27432" marB="27432">
                    <a:lnL w="9525" cap="flat" cmpd="sng" algn="ctr">
                      <a:solidFill>
                        <a:srgbClr val="D3DAE8"/>
                      </a:solidFill>
                      <a:prstDash val="soli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5459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  <a:latin typeface="Times New Roman"/>
              </a:rPr>
              <a:t>Dataset 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5532120"/>
            <a:ext cx="9811512" cy="502920"/>
          </a:xfrm>
          <a:prstGeom prst="roundRect">
            <a:avLst>
              <a:gd name="adj" fmla="val 16363"/>
            </a:avLst>
          </a:prstGeom>
          <a:solidFill>
            <a:srgbClr val="FCEFE6"/>
          </a:solidFill>
          <a:ln w="9525">
            <a:solidFill>
              <a:srgbClr val="F0C9AE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600" b="1" i="0">
                <a:solidFill>
                  <a:srgbClr val="7A3A0E"/>
                </a:solidFill>
                <a:latin typeface="Calibri"/>
              </a:rPr>
              <a:t>Selection Status</a:t>
            </a:r>
            <a:r>
              <a:rPr sz="1600" b="0" i="0">
                <a:solidFill>
                  <a:srgbClr val="7A3A0E"/>
                </a:solidFill>
                <a:latin typeface="Calibri"/>
              </a:rPr>
              <a:t> is the </a:t>
            </a:r>
            <a:r>
              <a:rPr sz="1600" b="1" i="0">
                <a:solidFill>
                  <a:srgbClr val="7A3A0E"/>
                </a:solidFill>
                <a:latin typeface="Calibri"/>
              </a:rPr>
              <a:t>target variable</a:t>
            </a:r>
            <a:r>
              <a:rPr sz="1600" b="0" i="0">
                <a:solidFill>
                  <a:srgbClr val="7A3A0E"/>
                </a:solidFill>
                <a:latin typeface="Calibri"/>
              </a:rPr>
              <a:t> used to evaluate recruitment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Project                                                                Human Resource Recruitment Analysis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7543800" y="1460973"/>
            <a:ext cx="4096512" cy="4576132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E43BF2-7BD4-5A81-3E38-D33233ACD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240" y="1552413"/>
            <a:ext cx="3913632" cy="43932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  <a:latin typeface="Times New Roman"/>
              </a:rPr>
              <a:t>Data Collection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6675120" cy="990600"/>
          </a:xfrm>
          <a:prstGeom prst="roundRect">
            <a:avLst>
              <a:gd name="adj" fmla="val 8307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Recruitment data is imported from a CSV file using the Pandas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read_csv()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 function.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72059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45080"/>
            <a:ext cx="6675120" cy="990600"/>
          </a:xfrm>
          <a:prstGeom prst="roundRect">
            <a:avLst>
              <a:gd name="adj" fmla="val 8307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The dataset is loaded into a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DataFrame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, providing a structured, tabular format for analysis.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84835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72840"/>
            <a:ext cx="6675120" cy="1280160"/>
          </a:xfrm>
          <a:prstGeom prst="roundRect">
            <a:avLst>
              <a:gd name="adj" fmla="val 6428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Initial inspection is carried out using functions such as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head(), tail(), and info()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 to understand the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12089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90160"/>
            <a:ext cx="6675120" cy="990600"/>
          </a:xfrm>
          <a:prstGeom prst="roundRect">
            <a:avLst>
              <a:gd name="adj" fmla="val 8307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This step ensures the dataset is correctly loaded before any cleaning or analysis begins.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" y="539343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575A47-A5B3-2AB1-289D-27A5892169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4E5D03-791D-FC76-89E4-992256BD3B1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Data Science                                                                K Vydehi, Asst Professor, CSE Dept.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6112C-15A6-AA3C-3A8F-9303882981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48639" y="2167359"/>
            <a:ext cx="11091672" cy="3437681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D1D07D-8426-6C15-8423-5A2454143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" y="2258799"/>
            <a:ext cx="10908792" cy="32548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  <a:latin typeface="Times New Roman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606013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Project                                                                Human Resource Recruitment Analysis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7645638" y="1417320"/>
            <a:ext cx="389283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5EBB6C-2E98-C20B-5817-D59A1A339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078" y="1508760"/>
            <a:ext cx="3709954" cy="192023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171352" y="3703320"/>
            <a:ext cx="2841406" cy="237744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0A6DAA-184A-8B25-2178-5001D1BBE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792" y="3794760"/>
            <a:ext cx="2658526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  <a:latin typeface="Times New Roman"/>
              </a:rPr>
              <a:t>Data Preprocessing: Cleaning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417320"/>
            <a:ext cx="6675120" cy="1131570"/>
          </a:xfrm>
          <a:prstGeom prst="roundRect">
            <a:avLst>
              <a:gd name="adj" fmla="val 7272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Missing values are identified using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isnull().sum()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and handled through removal or suitable imputation.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179108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86050"/>
            <a:ext cx="6675120" cy="1131570"/>
          </a:xfrm>
          <a:prstGeom prst="roundRect">
            <a:avLst>
              <a:gd name="adj" fmla="val 7272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Duplicate candidate records are detected and removed using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drop_duplicates()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to avoid skewed results.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" y="305981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54780"/>
            <a:ext cx="6675120" cy="1131570"/>
          </a:xfrm>
          <a:prstGeom prst="roundRect">
            <a:avLst>
              <a:gd name="adj" fmla="val 7272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Outliers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in numerical attributes, such as experience or evaluation score, are examined to prevent distortion of results.</a:t>
            </a:r>
          </a:p>
        </p:txBody>
      </p:sp>
      <p:sp>
        <p:nvSpPr>
          <p:cNvPr id="21" name="Oval 20"/>
          <p:cNvSpPr/>
          <p:nvPr/>
        </p:nvSpPr>
        <p:spPr>
          <a:xfrm>
            <a:off x="704088" y="432854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23510"/>
            <a:ext cx="6675120" cy="85725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Cleaning ensures the dataset is accurate, consistent, and reliable for further analysis.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" y="546011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Project                                                                Human Resource Recruitment Analysis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548640" y="3249583"/>
            <a:ext cx="5852160" cy="2416232"/>
          </a:xfrm>
          <a:prstGeom prst="roundRect">
            <a:avLst>
              <a:gd name="adj" fmla="val 3027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BD7C6A-EC90-04C9-4A8C-29EB3AF73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3341023"/>
            <a:ext cx="5669280" cy="223335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67471" y="2834640"/>
            <a:ext cx="4380489" cy="3246120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4B9CE1-6B1C-9496-3D61-DF0C3E8D0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911" y="2926080"/>
            <a:ext cx="4197609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  <a:latin typeface="Times New Roman"/>
              </a:rPr>
              <a:t>Data Preprocessing: Transformation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2635758" cy="1188720"/>
          </a:xfrm>
          <a:prstGeom prst="roundRect">
            <a:avLst>
              <a:gd name="adj" fmla="val 692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137160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Removed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extra spaces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from text columns.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278" y="1417320"/>
            <a:ext cx="2635758" cy="1188720"/>
          </a:xfrm>
          <a:prstGeom prst="roundRect">
            <a:avLst>
              <a:gd name="adj" fmla="val 692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137160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Standardized Status formatting using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title case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417320"/>
            <a:ext cx="2635758" cy="1188720"/>
          </a:xfrm>
          <a:prstGeom prst="roundRect">
            <a:avLst>
              <a:gd name="adj" fmla="val 692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137160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Encoded Qualification, Department, and Status into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numeric codes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4554" y="1417320"/>
            <a:ext cx="2635758" cy="1188720"/>
          </a:xfrm>
          <a:prstGeom prst="roundRect">
            <a:avLst>
              <a:gd name="adj" fmla="val 692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137160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Dataset now has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13 columns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, ready for analysis and modelling.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FC54C-53AA-E52C-EDF8-1F22F68ABE3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B62AC-2BB3-3181-8EDD-50A82B1DCD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K Vydehi, Asst Professor, CSE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95BA6-014A-5917-C99C-8BAC004370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48640" y="1957218"/>
            <a:ext cx="5486400" cy="3583643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1AB774-0432-040F-B410-FDEF5891A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2048658"/>
            <a:ext cx="5303520" cy="34007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CANDIDATE QUALIFICATION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584960"/>
            <a:ext cx="5285232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This analysis focuses on the educational qualifications of candidates.</a:t>
            </a:r>
          </a:p>
        </p:txBody>
      </p:sp>
      <p:sp>
        <p:nvSpPr>
          <p:cNvPr id="11" name="Oval 10"/>
          <p:cNvSpPr/>
          <p:nvPr/>
        </p:nvSpPr>
        <p:spPr>
          <a:xfrm>
            <a:off x="6510527" y="217017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3276600"/>
            <a:ext cx="5285232" cy="1249680"/>
          </a:xfrm>
          <a:prstGeom prst="roundRect">
            <a:avLst>
              <a:gd name="adj" fmla="val 6585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Our dataset contains a column called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Qualification</a:t>
            </a:r>
            <a:r>
              <a:rPr sz="20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6510527" y="370941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4663440"/>
            <a:ext cx="5285232" cy="1249680"/>
          </a:xfrm>
          <a:prstGeom prst="roundRect">
            <a:avLst>
              <a:gd name="adj" fmla="val 6585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We want to know how many candidates belong to each qualification.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510527" y="509625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692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4B42E-12F8-B475-95EE-AC341092DC8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E2464B-BEB1-0B07-B63B-008879B610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80048-7017-904D-8203-CE69BA7422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13017" y="1417320"/>
            <a:ext cx="4060365" cy="4663440"/>
          </a:xfrm>
          <a:prstGeom prst="roundRect">
            <a:avLst>
              <a:gd name="adj" fmla="val 1801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1DE364-4970-7D4C-7341-9637C6729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57" y="1508760"/>
            <a:ext cx="3877485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417320"/>
            <a:ext cx="3099816" cy="1874519"/>
          </a:xfrm>
          <a:prstGeom prst="roundRect">
            <a:avLst>
              <a:gd name="adj" fmla="val 439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508760"/>
            <a:ext cx="2916936" cy="539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C55A11"/>
                </a:solidFill>
                <a:latin typeface="Times New Roman"/>
              </a:rPr>
              <a:t>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48510"/>
            <a:ext cx="2880360" cy="1170178"/>
          </a:xfrm>
          <a:prstGeom prst="rect">
            <a:avLst/>
          </a:prstGeom>
          <a:noFill/>
        </p:spPr>
        <p:txBody>
          <a:bodyPr wrap="square" anchor="t" lIns="27432" tIns="27432" rIns="27432" bIns="27432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Calibri"/>
              </a:rPr>
              <a:t>B.Sc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is the most common qualification — 140 candidates.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0496" y="1417320"/>
            <a:ext cx="3099816" cy="1874519"/>
          </a:xfrm>
          <a:prstGeom prst="roundRect">
            <a:avLst>
              <a:gd name="adj" fmla="val 439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1936" y="1508760"/>
            <a:ext cx="2916936" cy="539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C55A11"/>
                </a:solidFill>
                <a:latin typeface="Times New Roman"/>
              </a:rPr>
              <a:t>112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2048510"/>
            <a:ext cx="2880360" cy="1170178"/>
          </a:xfrm>
          <a:prstGeom prst="rect">
            <a:avLst/>
          </a:prstGeom>
          <a:noFill/>
        </p:spPr>
        <p:txBody>
          <a:bodyPr wrap="square" anchor="t" lIns="27432" tIns="27432" rIns="27432" bIns="27432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Calibri"/>
              </a:rPr>
              <a:t>B.Tech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is the least common — 112 candidates.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3474720"/>
            <a:ext cx="6382512" cy="1188720"/>
          </a:xfrm>
          <a:prstGeom prst="roundRect">
            <a:avLst>
              <a:gd name="adj" fmla="val 692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The qualification counts are relatively close, ranging from 112 to 140.</a:t>
            </a:r>
          </a:p>
        </p:txBody>
      </p:sp>
      <p:sp>
        <p:nvSpPr>
          <p:cNvPr id="16" name="Oval 15"/>
          <p:cNvSpPr/>
          <p:nvPr/>
        </p:nvSpPr>
        <p:spPr>
          <a:xfrm>
            <a:off x="5532120" y="399592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57800" y="4800600"/>
            <a:ext cx="6382512" cy="1280160"/>
          </a:xfrm>
          <a:prstGeom prst="roundRect">
            <a:avLst>
              <a:gd name="adj" fmla="val 6428"/>
            </a:avLst>
          </a:prstGeom>
          <a:solidFill>
            <a:srgbClr val="FCEFE6"/>
          </a:solidFill>
          <a:ln w="9525">
            <a:solidFill>
              <a:srgbClr val="F0C9AE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This means there isn't an extremely large concentration in a single qualification.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5532120" y="536752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808489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47A96-DDE1-F95F-2F64-0BEE657DE9D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CEC28-BD3C-6E3F-F9A5-6208E211B1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Data Science                                                                K Vydehi, Asst Professor, CSE Dept.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BBB22-1AD8-6C42-AFEE-D4A44DFC19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48640" y="1697451"/>
            <a:ext cx="5486400" cy="4103176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C1E3C-7110-CE7C-E37B-04FE76045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788891"/>
            <a:ext cx="5303520" cy="39202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EXPERIENCE-WISE FILTERING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752600"/>
            <a:ext cx="5285232" cy="3992879"/>
          </a:xfrm>
          <a:prstGeom prst="roundRect">
            <a:avLst>
              <a:gd name="adj" fmla="val 2061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2560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Here we are applying a condition-based filter. We check the Experience column and select only candidates with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5 or more years of experience</a:t>
            </a:r>
            <a:r>
              <a:rPr sz="2000" b="0" i="0">
                <a:solidFill>
                  <a:srgbClr val="262626"/>
                </a:solidFill>
                <a:latin typeface="Calibri"/>
              </a:rPr>
              <a:t>. Out of the 1,000 candidates,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673</a:t>
            </a:r>
            <a:r>
              <a:rPr sz="2000" b="0" i="0">
                <a:solidFill>
                  <a:srgbClr val="262626"/>
                </a:solidFill>
                <a:latin typeface="Calibri"/>
              </a:rPr>
              <a:t> satisfy this condition, which is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67.3%</a:t>
            </a:r>
            <a:r>
              <a:rPr sz="2000" b="0" i="0">
                <a:solidFill>
                  <a:srgbClr val="262626"/>
                </a:solidFill>
                <a:latin typeface="Calibri"/>
              </a:rPr>
              <a:t>. The important point is that Pandas filters the rows but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keeps all the original columns</a:t>
            </a:r>
            <a:r>
              <a:rPr sz="2000" b="0" i="0">
                <a:solidFill>
                  <a:srgbClr val="262626"/>
                </a:solidFill>
                <a:latin typeface="Calibri"/>
              </a:rPr>
              <a:t>, so we can still see the complete information of these shortlisted candidates.”</a:t>
            </a:r>
          </a:p>
        </p:txBody>
      </p:sp>
    </p:spTree>
    <p:extLst>
      <p:ext uri="{BB962C8B-B14F-4D97-AF65-F5344CB8AC3E}">
        <p14:creationId xmlns:p14="http://schemas.microsoft.com/office/powerpoint/2010/main" val="2483524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33CBA-7EE1-C663-C56D-5C16A544D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C6C47F-B01A-EA93-1DF8-929E153B4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816FF-DDFC-4E69-E7D2-3636D306CC8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18634" y="1417320"/>
            <a:ext cx="5969370" cy="4663440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44DE16-5C59-9881-5929-D65520D9E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74" y="1508760"/>
            <a:ext cx="578649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OUTPUT: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417320"/>
            <a:ext cx="4462272" cy="6858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228600" tIns="54864" rIns="182880" bIns="54864">
            <a:no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  <a:latin typeface="Calibri"/>
              </a:rPr>
              <a:t>Condition applied: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Experience &gt;= 5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240280"/>
            <a:ext cx="2162556" cy="1463040"/>
          </a:xfrm>
          <a:prstGeom prst="roundRect">
            <a:avLst>
              <a:gd name="adj" fmla="val 562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79" y="2331720"/>
            <a:ext cx="1979676" cy="50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200" b="1" i="0">
                <a:solidFill>
                  <a:srgbClr val="C55A11"/>
                </a:solidFill>
                <a:latin typeface="Times New Roman"/>
              </a:rPr>
              <a:t>673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2839720"/>
            <a:ext cx="1943100" cy="790448"/>
          </a:xfrm>
          <a:prstGeom prst="rect">
            <a:avLst/>
          </a:prstGeom>
          <a:noFill/>
        </p:spPr>
        <p:txBody>
          <a:bodyPr wrap="square" anchor="t" lIns="27432" tIns="27432" rIns="27432" bIns="27432">
            <a:no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673 candidates matched the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77756" y="2240280"/>
            <a:ext cx="2162556" cy="1463040"/>
          </a:xfrm>
          <a:prstGeom prst="roundRect">
            <a:avLst>
              <a:gd name="adj" fmla="val 562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69196" y="2331720"/>
            <a:ext cx="1979676" cy="50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200" b="1" i="0">
                <a:solidFill>
                  <a:srgbClr val="C55A11"/>
                </a:solidFill>
                <a:latin typeface="Times New Roman"/>
              </a:rPr>
              <a:t>327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7484" y="2839720"/>
            <a:ext cx="1943100" cy="790448"/>
          </a:xfrm>
          <a:prstGeom prst="rect">
            <a:avLst/>
          </a:prstGeom>
          <a:noFill/>
        </p:spPr>
        <p:txBody>
          <a:bodyPr wrap="square" anchor="t" lIns="27432" tIns="27432" rIns="27432" bIns="27432">
            <a:no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327 candidates did not meet the condition.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3840480"/>
            <a:ext cx="4462272" cy="1097280"/>
          </a:xfrm>
          <a:prstGeom prst="roundRect">
            <a:avLst>
              <a:gd name="adj" fmla="val 7500"/>
            </a:avLst>
          </a:prstGeom>
          <a:solidFill>
            <a:srgbClr val="FCEFE6"/>
          </a:solidFill>
          <a:ln w="9525">
            <a:solidFill>
              <a:srgbClr val="F0C9AE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3840480"/>
            <a:ext cx="1417320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200" b="1" i="0">
                <a:solidFill>
                  <a:srgbClr val="C55A11"/>
                </a:solidFill>
                <a:latin typeface="Times New Roman"/>
              </a:rPr>
              <a:t>67.3%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05088" y="4023360"/>
            <a:ext cx="0" cy="731520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0" y="3840480"/>
            <a:ext cx="2770632" cy="10972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  <a:latin typeface="Calibri"/>
              </a:rPr>
              <a:t>67.3% of candidates have 5+ years of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5074920"/>
            <a:ext cx="4462272" cy="1005840"/>
          </a:xfrm>
          <a:prstGeom prst="roundRect">
            <a:avLst>
              <a:gd name="adj" fmla="val 8181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228600" tIns="54864" rIns="182880" bIns="54864">
            <a:no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  <a:latin typeface="Calibri"/>
              </a:rPr>
              <a:t>All 10 candidate attributes are retained after filtering.</a:t>
            </a:r>
          </a:p>
        </p:txBody>
      </p:sp>
    </p:spTree>
    <p:extLst>
      <p:ext uri="{BB962C8B-B14F-4D97-AF65-F5344CB8AC3E}">
        <p14:creationId xmlns:p14="http://schemas.microsoft.com/office/powerpoint/2010/main" val="1863142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4DFEF-91D0-5D4B-E4E9-9FA1233DF26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11F3B-A100-01C7-F2EE-8FAF835DCC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Data Science                                                                K Vydehi, Asst Professor, CSE Dept.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4A941-BEE2-22A5-12E0-9E9500A417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48640" y="1584893"/>
            <a:ext cx="5486400" cy="4328293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B06CB9-FECA-2B68-3152-39D98B3FD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676333"/>
            <a:ext cx="5303520" cy="41454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DEPARTMENT-WISE RECRUITMENT STATISTICS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417320"/>
            <a:ext cx="5285232" cy="986790"/>
          </a:xfrm>
          <a:prstGeom prst="roundRect">
            <a:avLst>
              <a:gd name="adj" fmla="val 833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df["Department"] selects the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Department column</a:t>
            </a:r>
            <a:r>
              <a:rPr sz="2000" b="0" i="0">
                <a:solidFill>
                  <a:srgbClr val="262626"/>
                </a:solidFill>
                <a:latin typeface="Calibri"/>
              </a:rPr>
              <a:t> from our dataset.</a:t>
            </a:r>
          </a:p>
        </p:txBody>
      </p:sp>
      <p:sp>
        <p:nvSpPr>
          <p:cNvPr id="13" name="Oval 12"/>
          <p:cNvSpPr/>
          <p:nvPr/>
        </p:nvSpPr>
        <p:spPr>
          <a:xfrm>
            <a:off x="6510527" y="171869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2541270"/>
            <a:ext cx="5285232" cy="1291590"/>
          </a:xfrm>
          <a:prstGeom prst="roundRect">
            <a:avLst>
              <a:gd name="adj" fmla="val 6371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.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value_counts()</a:t>
            </a:r>
            <a:r>
              <a:rPr sz="2000" b="0" i="0">
                <a:solidFill>
                  <a:srgbClr val="262626"/>
                </a:solidFill>
                <a:latin typeface="Calibri"/>
              </a:rPr>
              <a:t> counts how many candidates belong to each department.</a:t>
            </a:r>
          </a:p>
        </p:txBody>
      </p:sp>
      <p:sp>
        <p:nvSpPr>
          <p:cNvPr id="15" name="Oval 14"/>
          <p:cNvSpPr/>
          <p:nvPr/>
        </p:nvSpPr>
        <p:spPr>
          <a:xfrm>
            <a:off x="6510527" y="299504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3970020"/>
            <a:ext cx="5285232" cy="986790"/>
          </a:xfrm>
          <a:prstGeom prst="roundRect">
            <a:avLst>
              <a:gd name="adj" fmla="val 833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The result is stored in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department_counts</a:t>
            </a:r>
            <a:r>
              <a:rPr sz="20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6510527" y="427139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5093970"/>
            <a:ext cx="5285232" cy="986790"/>
          </a:xfrm>
          <a:prstGeom prst="roundRect">
            <a:avLst>
              <a:gd name="adj" fmla="val 833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Then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print()</a:t>
            </a:r>
            <a:r>
              <a:rPr sz="2000" b="0" i="0">
                <a:solidFill>
                  <a:srgbClr val="262626"/>
                </a:solidFill>
                <a:latin typeface="Calibri"/>
              </a:rPr>
              <a:t> displays those counts.</a:t>
            </a:r>
          </a:p>
        </p:txBody>
      </p:sp>
      <p:sp>
        <p:nvSpPr>
          <p:cNvPr id="19" name="Oval 18"/>
          <p:cNvSpPr/>
          <p:nvPr/>
        </p:nvSpPr>
        <p:spPr>
          <a:xfrm>
            <a:off x="6510527" y="539534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119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8BDDB-8530-3E73-2020-D785D3AC328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BE31D-92E8-4773-1856-E1002D7AC4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BFF4C-03FD-C3C9-969D-FE025C92C5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25146" y="1417320"/>
            <a:ext cx="4236107" cy="4663440"/>
          </a:xfrm>
          <a:prstGeom prst="roundRect">
            <a:avLst>
              <a:gd name="adj" fmla="val 1726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57A097-7929-8A29-65E7-2702D2C30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86" y="1508760"/>
            <a:ext cx="4053227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2036064" cy="2011680"/>
          </a:xfrm>
          <a:prstGeom prst="roundRect">
            <a:avLst>
              <a:gd name="adj" fmla="val 409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508760"/>
            <a:ext cx="1853184" cy="539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C55A11"/>
                </a:solidFill>
                <a:latin typeface="Times New Roman"/>
              </a:rPr>
              <a:t>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7528" y="2048510"/>
            <a:ext cx="1816608" cy="1307338"/>
          </a:xfrm>
          <a:prstGeom prst="rect">
            <a:avLst/>
          </a:prstGeom>
          <a:noFill/>
        </p:spPr>
        <p:txBody>
          <a:bodyPr wrap="square" anchor="t" lIns="27432" tIns="27432" rIns="27432" bIns="27432">
            <a:no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Calibri"/>
              </a:rPr>
              <a:t>1,000 candidates analyzed across 8 departments 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31024" y="1417320"/>
            <a:ext cx="2036064" cy="2011680"/>
          </a:xfrm>
          <a:prstGeom prst="roundRect">
            <a:avLst>
              <a:gd name="adj" fmla="val 409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2464" y="1508760"/>
            <a:ext cx="1853184" cy="539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C55A11"/>
                </a:solidFill>
                <a:latin typeface="Times New Roman"/>
              </a:rPr>
              <a:t>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0751" y="2048510"/>
            <a:ext cx="1816608" cy="1307338"/>
          </a:xfrm>
          <a:prstGeom prst="rect">
            <a:avLst/>
          </a:prstGeom>
          <a:noFill/>
        </p:spPr>
        <p:txBody>
          <a:bodyPr wrap="square" anchor="t" lIns="27432" tIns="27432" rIns="27432" bIns="27432">
            <a:no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Calibri"/>
              </a:rPr>
              <a:t>Data Analytics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has the highest count: 138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4248" y="1417320"/>
            <a:ext cx="2036064" cy="2011680"/>
          </a:xfrm>
          <a:prstGeom prst="roundRect">
            <a:avLst>
              <a:gd name="adj" fmla="val 409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5688" y="1508760"/>
            <a:ext cx="1853184" cy="539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C55A11"/>
                </a:solidFill>
                <a:latin typeface="Times New Roman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3976" y="2048510"/>
            <a:ext cx="1816608" cy="1307338"/>
          </a:xfrm>
          <a:prstGeom prst="rect">
            <a:avLst/>
          </a:prstGeom>
          <a:noFill/>
        </p:spPr>
        <p:txBody>
          <a:bodyPr wrap="square" anchor="t" lIns="27432" tIns="27432" rIns="27432" bIns="27432">
            <a:no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Calibri"/>
              </a:rPr>
              <a:t>Sales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has the lowest count: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611880"/>
            <a:ext cx="6382512" cy="1051560"/>
          </a:xfrm>
          <a:prstGeom prst="roundRect">
            <a:avLst>
              <a:gd name="adj" fmla="val 7826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Candidate distribution varies by department.</a:t>
            </a:r>
          </a:p>
        </p:txBody>
      </p:sp>
      <p:sp>
        <p:nvSpPr>
          <p:cNvPr id="18" name="Oval 17"/>
          <p:cNvSpPr/>
          <p:nvPr/>
        </p:nvSpPr>
        <p:spPr>
          <a:xfrm>
            <a:off x="5532120" y="406450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57800" y="4800600"/>
            <a:ext cx="6382512" cy="1280160"/>
          </a:xfrm>
          <a:prstGeom prst="roundRect">
            <a:avLst>
              <a:gd name="adj" fmla="val 6428"/>
            </a:avLst>
          </a:prstGeom>
          <a:solidFill>
            <a:srgbClr val="FCEFE6"/>
          </a:solidFill>
          <a:ln w="9525">
            <a:solidFill>
              <a:srgbClr val="F0C9AE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Department-wise counts help identify areas with relatively higher or lower applicant representation.</a:t>
            </a:r>
          </a:p>
        </p:txBody>
      </p:sp>
      <p:sp>
        <p:nvSpPr>
          <p:cNvPr id="20" name="Oval 19"/>
          <p:cNvSpPr/>
          <p:nvPr/>
        </p:nvSpPr>
        <p:spPr>
          <a:xfrm>
            <a:off x="5532120" y="536752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109383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224D9-A27E-8196-FF56-194988DAE30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2D591-9764-77B3-F8F5-3FC90D3975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Data Science                                                                K Vydehi, Asst Professor, CSE Dept.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D4053-4B7E-719B-A537-ECD5EA75DEA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48640" y="1870247"/>
            <a:ext cx="5486400" cy="3940464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34D793-7E89-2EDB-17E3-033A6666F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961687"/>
            <a:ext cx="5303520" cy="3757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26080" y="274320"/>
            <a:ext cx="8869680" cy="621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868680"/>
            <a:ext cx="8869680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Calibri"/>
              </a:rPr>
              <a:t>1)BAR CHART (SELECTED CANDIDATES):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600200"/>
            <a:ext cx="5285232" cy="834390"/>
          </a:xfrm>
          <a:prstGeom prst="roundRect">
            <a:avLst>
              <a:gd name="adj" fmla="val 986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This analysis filters the dataset to identify candidates whose status is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“Selected.”</a:t>
            </a:r>
          </a:p>
        </p:txBody>
      </p:sp>
      <p:sp>
        <p:nvSpPr>
          <p:cNvPr id="13" name="Oval 12"/>
          <p:cNvSpPr/>
          <p:nvPr/>
        </p:nvSpPr>
        <p:spPr>
          <a:xfrm>
            <a:off x="6510527" y="182537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2571750"/>
            <a:ext cx="5285232" cy="834390"/>
          </a:xfrm>
          <a:prstGeom prst="roundRect">
            <a:avLst>
              <a:gd name="adj" fmla="val 9863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The selected candidates are then grouped according to their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department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and counted.</a:t>
            </a:r>
          </a:p>
        </p:txBody>
      </p:sp>
      <p:sp>
        <p:nvSpPr>
          <p:cNvPr id="15" name="Oval 14"/>
          <p:cNvSpPr/>
          <p:nvPr/>
        </p:nvSpPr>
        <p:spPr>
          <a:xfrm>
            <a:off x="6510527" y="279692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3543300"/>
            <a:ext cx="5285232" cy="1078230"/>
          </a:xfrm>
          <a:prstGeom prst="roundRect">
            <a:avLst>
              <a:gd name="adj" fmla="val 7632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A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bar chart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is used to compare the number of selected candidates across different departments.</a:t>
            </a:r>
          </a:p>
        </p:txBody>
      </p:sp>
      <p:sp>
        <p:nvSpPr>
          <p:cNvPr id="17" name="Oval 16"/>
          <p:cNvSpPr/>
          <p:nvPr/>
        </p:nvSpPr>
        <p:spPr>
          <a:xfrm>
            <a:off x="6510527" y="389039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4758690"/>
            <a:ext cx="5285232" cy="1322070"/>
          </a:xfrm>
          <a:prstGeom prst="roundRect">
            <a:avLst>
              <a:gd name="adj" fmla="val 622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This visualization helps us understand the department-wise distribution of selected candidates and makes it easier to compare recruitment outcomes between departments.</a:t>
            </a:r>
          </a:p>
        </p:txBody>
      </p:sp>
      <p:sp>
        <p:nvSpPr>
          <p:cNvPr id="19" name="Oval 18"/>
          <p:cNvSpPr/>
          <p:nvPr/>
        </p:nvSpPr>
        <p:spPr>
          <a:xfrm>
            <a:off x="6510527" y="5227701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02971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23F281-90C3-6BA5-427B-1446C454FBC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02D7E-E4BB-77E1-5293-A14225BD479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D102B-CC4E-0700-93C6-F420D4ED74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864117" y="1417320"/>
            <a:ext cx="6044164" cy="4663440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036FF7C5-75F0-106C-E4A7-C8A8BADF7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57" y="1508760"/>
            <a:ext cx="5861284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17320"/>
            <a:ext cx="4233672" cy="1666240"/>
          </a:xfrm>
          <a:prstGeom prst="roundRect">
            <a:avLst>
              <a:gd name="adj" fmla="val 4939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It shows the distribution of selected candidates across the analyzed categories.</a:t>
            </a:r>
          </a:p>
        </p:txBody>
      </p:sp>
      <p:sp>
        <p:nvSpPr>
          <p:cNvPr id="10" name="Oval 9"/>
          <p:cNvSpPr/>
          <p:nvPr/>
        </p:nvSpPr>
        <p:spPr>
          <a:xfrm>
            <a:off x="7680960" y="217728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3220720"/>
            <a:ext cx="4233672" cy="1361440"/>
          </a:xfrm>
          <a:prstGeom prst="roundRect">
            <a:avLst>
              <a:gd name="adj" fmla="val 604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It helps identify which categories contribute more selected candidates.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0" y="382828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4719320"/>
            <a:ext cx="4233672" cy="1361440"/>
          </a:xfrm>
          <a:prstGeom prst="roundRect">
            <a:avLst>
              <a:gd name="adj" fmla="val 604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Calibri"/>
              </a:rPr>
              <a:t>It makes comparison between categories easier than looking at raw data.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532688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50196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66FE7-4245-7BAB-E779-BBB959DA2CC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6C8806-2210-FD73-B55E-5023708686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Data Science                                                                K Vydehi, Asst Professor, CSE Dept.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CFC28-0933-A852-B3F3-2B2DB5F8BE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48640" y="1573244"/>
            <a:ext cx="5486400" cy="435159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2C673-A1F5-B5FA-36B2-57530DB87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664684"/>
            <a:ext cx="5303520" cy="41687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2)PIE-CHART(QUALIFICATION DISTRIBUTION):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417320"/>
            <a:ext cx="5285232" cy="1463040"/>
          </a:xfrm>
          <a:prstGeom prst="roundRect">
            <a:avLst>
              <a:gd name="adj" fmla="val 562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This analysis counts the number of candidates in each qualification category using the Qualification column.</a:t>
            </a:r>
          </a:p>
        </p:txBody>
      </p:sp>
      <p:sp>
        <p:nvSpPr>
          <p:cNvPr id="11" name="Oval 10"/>
          <p:cNvSpPr/>
          <p:nvPr/>
        </p:nvSpPr>
        <p:spPr>
          <a:xfrm>
            <a:off x="6510527" y="195681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3017520"/>
            <a:ext cx="5285232" cy="1173480"/>
          </a:xfrm>
          <a:prstGeom prst="roundRect">
            <a:avLst>
              <a:gd name="adj" fmla="val 7012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A pie chart is created to represent the distribution of candidates across different qualifications.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6510527" y="341223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4328160"/>
            <a:ext cx="5285232" cy="1752600"/>
          </a:xfrm>
          <a:prstGeom prst="roundRect">
            <a:avLst>
              <a:gd name="adj" fmla="val 4695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The percentage of each qualification is displayed on the chart, making it easy to understand the proportion of candidates belonging to each qualification category.</a:t>
            </a:r>
          </a:p>
        </p:txBody>
      </p:sp>
      <p:sp>
        <p:nvSpPr>
          <p:cNvPr id="15" name="Oval 14"/>
          <p:cNvSpPr/>
          <p:nvPr/>
        </p:nvSpPr>
        <p:spPr>
          <a:xfrm>
            <a:off x="6510527" y="501243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0547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9F589-7D4A-2BDA-B7F8-81F2DC09638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9FA67-887F-24B9-EB56-9150D9864C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67FE3-637F-1E52-C793-B230CD201C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85410" y="1417320"/>
            <a:ext cx="6201579" cy="4663440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E14703-50FE-AFF7-E054-F948BAFD1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" r="126" b="5199"/>
          <a:stretch>
            <a:fillRect/>
          </a:stretch>
        </p:blipFill>
        <p:spPr>
          <a:xfrm>
            <a:off x="876850" y="1508760"/>
            <a:ext cx="6018699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17320"/>
            <a:ext cx="4233672" cy="1005840"/>
          </a:xfrm>
          <a:prstGeom prst="roundRect">
            <a:avLst>
              <a:gd name="adj" fmla="val 8181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1280160" cy="10058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200" b="1" i="0">
                <a:solidFill>
                  <a:srgbClr val="C55A11"/>
                </a:solidFill>
                <a:latin typeface="Times New Roman"/>
              </a:rPr>
              <a:t>14%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96528" y="1600200"/>
            <a:ext cx="0" cy="640080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69680" y="1417320"/>
            <a:ext cx="2679192" cy="100584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B.Sc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has the highest representation — 14% of candidates.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560320"/>
            <a:ext cx="4233672" cy="1005840"/>
          </a:xfrm>
          <a:prstGeom prst="roundRect">
            <a:avLst>
              <a:gd name="adj" fmla="val 8181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560320"/>
            <a:ext cx="1280160" cy="10058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200" b="1" i="0">
                <a:solidFill>
                  <a:srgbClr val="C55A11"/>
                </a:solidFill>
                <a:latin typeface="Times New Roman"/>
              </a:rPr>
              <a:t>11.2%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96528" y="2743200"/>
            <a:ext cx="0" cy="640079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680" y="2560320"/>
            <a:ext cx="2679192" cy="100584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B.Tech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has the lowest representation — 11.2%.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703320"/>
            <a:ext cx="4233672" cy="1097280"/>
          </a:xfrm>
          <a:prstGeom prst="roundRect">
            <a:avLst>
              <a:gd name="adj" fmla="val 750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201168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The other qualifications are fairly close in proportion, ranging from about 11.7% to 13.4%.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937760"/>
            <a:ext cx="4233672" cy="1143000"/>
          </a:xfrm>
          <a:prstGeom prst="roundRect">
            <a:avLst>
              <a:gd name="adj" fmla="val 7199"/>
            </a:avLst>
          </a:prstGeom>
          <a:solidFill>
            <a:srgbClr val="FCEFE6"/>
          </a:solidFill>
          <a:ln w="9525">
            <a:solidFill>
              <a:srgbClr val="F0C9AE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201168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So, the dataset has a relatively balanced distribution of candidates across qualifications.</a:t>
            </a:r>
          </a:p>
        </p:txBody>
      </p:sp>
    </p:spTree>
    <p:extLst>
      <p:ext uri="{BB962C8B-B14F-4D97-AF65-F5344CB8AC3E}">
        <p14:creationId xmlns:p14="http://schemas.microsoft.com/office/powerpoint/2010/main" val="2555102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ED6DE-EED7-8FF8-BB10-CF482893E3D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C2C3F4-4A99-0622-5408-4995C29B4D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Data Science                                                                K Vydehi, Asst Professor, CSE Dept.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E1577-2BA9-A2A2-EEA3-18CBC0D25A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88209" y="1417320"/>
            <a:ext cx="5407260" cy="4663440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9C989F-4ACE-C43E-EA13-26F661346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49" y="1508760"/>
            <a:ext cx="522438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3)HISTOGRAM(EXPERIENCE):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417320"/>
            <a:ext cx="5285232" cy="1463040"/>
          </a:xfrm>
          <a:prstGeom prst="roundRect">
            <a:avLst>
              <a:gd name="adj" fmla="val 562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This code creates a histogram to analyze the distribution of candidates based on their years of experience.</a:t>
            </a:r>
          </a:p>
        </p:txBody>
      </p:sp>
      <p:sp>
        <p:nvSpPr>
          <p:cNvPr id="11" name="Oval 10"/>
          <p:cNvSpPr/>
          <p:nvPr/>
        </p:nvSpPr>
        <p:spPr>
          <a:xfrm>
            <a:off x="6510527" y="195681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3017520"/>
            <a:ext cx="5285232" cy="1463040"/>
          </a:xfrm>
          <a:prstGeom prst="roundRect">
            <a:avLst>
              <a:gd name="adj" fmla="val 562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The experience values are divided into 16 intervals (bins), and the number of candidates in each interval is displayed.</a:t>
            </a:r>
          </a:p>
        </p:txBody>
      </p:sp>
      <p:sp>
        <p:nvSpPr>
          <p:cNvPr id="13" name="Oval 12"/>
          <p:cNvSpPr/>
          <p:nvPr/>
        </p:nvSpPr>
        <p:spPr>
          <a:xfrm>
            <a:off x="6510527" y="3557015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4617720"/>
            <a:ext cx="5285232" cy="1463040"/>
          </a:xfrm>
          <a:prstGeom prst="roundRect">
            <a:avLst>
              <a:gd name="adj" fmla="val 562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This helps us understand the experience pattern of candidates and identify which experience ranges have more candidates.</a:t>
            </a:r>
          </a:p>
        </p:txBody>
      </p:sp>
      <p:sp>
        <p:nvSpPr>
          <p:cNvPr id="15" name="Oval 14"/>
          <p:cNvSpPr/>
          <p:nvPr/>
        </p:nvSpPr>
        <p:spPr>
          <a:xfrm>
            <a:off x="6510527" y="515721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7961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BF7374-1618-938C-D6EF-C83B641964D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38DCEA-F2BA-835B-8C55-C5E603BC25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58BBD-BAC8-15DC-8B6A-2B7B7151A4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910588" y="1417320"/>
            <a:ext cx="5951222" cy="4663440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A graph of blue bars&#10;&#10;AI-generated content may be incorrect.">
            <a:extLst>
              <a:ext uri="{FF2B5EF4-FFF2-40B4-BE49-F238E27FC236}">
                <a16:creationId xmlns:a16="http://schemas.microsoft.com/office/drawing/2014/main" id="{7536852C-109B-805C-44DE-BC5CA06BE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28" y="1508760"/>
            <a:ext cx="5768342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417320"/>
            <a:ext cx="4233672" cy="1371600"/>
          </a:xfrm>
          <a:prstGeom prst="roundRect">
            <a:avLst>
              <a:gd name="adj" fmla="val 6000"/>
            </a:avLst>
          </a:prstGeom>
          <a:solidFill>
            <a:srgbClr val="FCEFE6"/>
          </a:solidFill>
          <a:ln w="9525">
            <a:solidFill>
              <a:srgbClr val="F0C9AE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417320"/>
            <a:ext cx="1280160" cy="1371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3200" b="1" i="0">
                <a:solidFill>
                  <a:srgbClr val="C55A11"/>
                </a:solidFill>
                <a:latin typeface="Times New Roman"/>
              </a:rPr>
              <a:t>67.3%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96528" y="1600200"/>
            <a:ext cx="0" cy="1005839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69680" y="1417320"/>
            <a:ext cx="2679192" cy="13716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673 out of 1000 candidates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(67.3%) have 5 or more years of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926080"/>
            <a:ext cx="4233672" cy="914400"/>
          </a:xfrm>
          <a:prstGeom prst="roundRect">
            <a:avLst>
              <a:gd name="adj" fmla="val 900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This shows that a majority of candidates are experienced.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331012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3977639"/>
            <a:ext cx="4233672" cy="914400"/>
          </a:xfrm>
          <a:prstGeom prst="roundRect">
            <a:avLst>
              <a:gd name="adj" fmla="val 900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The histogram helps us see how candidates are distributed across different experience ranges.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0" y="436168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5029200"/>
            <a:ext cx="4233672" cy="914400"/>
          </a:xfrm>
          <a:prstGeom prst="roundRect">
            <a:avLst>
              <a:gd name="adj" fmla="val 9000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It can be useful for shortlisting candidates based on experience.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5413248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788374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56B19-655C-6423-F929-BC150211EF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Data Science                                                                K Vydehi, Asst Professor, CSE Dept.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80641-6B55-D0CD-4E60-125CA4AEA0D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842248" y="6356350"/>
            <a:ext cx="199720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8368060C-F3A5-4600-9262-589A0797613D}" type="datetime1">
              <a:rPr lang="en-US">
                <a:solidFill>
                  <a:schemeClr val="tx1">
                    <a:alpha val="80000"/>
                  </a:schemeClr>
                </a:solidFill>
              </a:rPr>
              <a:pPr algn="r" defTabSz="914400">
                <a:spcAft>
                  <a:spcPts val="600"/>
                </a:spcAft>
              </a:pPr>
              <a:t>9/30/2026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D8909-ED06-4604-C680-223B8DB74C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26EF2E3-409D-4D76-AD02-397A36B0DAF9}" type="slidenum">
              <a:rPr lang="en-US">
                <a:solidFill>
                  <a:schemeClr val="tx1">
                    <a:alpha val="80000"/>
                  </a:schemeClr>
                </a:solidFill>
              </a:rPr>
              <a:pPr defTabSz="914400">
                <a:spcAft>
                  <a:spcPts val="600"/>
                </a:spcAft>
              </a:pPr>
              <a:t>23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96596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2364" y="196596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CSV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93792" y="196596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75220" y="1682495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3F6FB"/>
          </a:solidFill>
          <a:ln w="9525">
            <a:solidFill>
              <a:srgbClr val="AEBBD9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5220" y="2505456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3F6FB"/>
          </a:solidFill>
          <a:ln w="9525">
            <a:solidFill>
              <a:srgbClr val="AEBBD9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TRANSFORMATION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56648" y="196596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CLEAN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5" y="2377440"/>
            <a:ext cx="498349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4695444" y="2377440"/>
            <a:ext cx="498348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976872" y="1965960"/>
            <a:ext cx="498348" cy="41148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15" name="Connector 14"/>
          <p:cNvCxnSpPr/>
          <p:nvPr/>
        </p:nvCxnSpPr>
        <p:spPr>
          <a:xfrm>
            <a:off x="9258300" y="1965960"/>
            <a:ext cx="498348" cy="41148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6976872" y="2377440"/>
            <a:ext cx="498348" cy="41148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 flipV="1">
            <a:off x="9258300" y="2377440"/>
            <a:ext cx="498348" cy="41148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10648188" y="2788920"/>
            <a:ext cx="0" cy="667512"/>
          </a:xfrm>
          <a:prstGeom prst="line">
            <a:avLst/>
          </a:prstGeom>
          <a:ln w="22225">
            <a:solidFill>
              <a:srgbClr val="1F3864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>
            <a:off x="1522476" y="3456432"/>
            <a:ext cx="9125712" cy="0"/>
          </a:xfrm>
          <a:prstGeom prst="line">
            <a:avLst/>
          </a:prstGeom>
          <a:ln w="22225">
            <a:solidFill>
              <a:srgbClr val="1F3864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1522476" y="3456432"/>
            <a:ext cx="0" cy="978408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630936" y="443484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12364" y="3831336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3F6FB"/>
          </a:solidFill>
          <a:ln w="9525">
            <a:solidFill>
              <a:srgbClr val="AEBBD9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Qualification Analysis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414015" y="4114800"/>
            <a:ext cx="498349" cy="73152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4695444" y="4114800"/>
            <a:ext cx="498348" cy="73152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2912364" y="4562856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3F6FB"/>
          </a:solidFill>
          <a:ln w="9525">
            <a:solidFill>
              <a:srgbClr val="AEBBD9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Experience Filtering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14015" y="4846320"/>
            <a:ext cx="498349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>
            <a:off x="4695444" y="4846320"/>
            <a:ext cx="498348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2912364" y="5294376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3F6FB"/>
          </a:solidFill>
          <a:ln w="9525">
            <a:solidFill>
              <a:srgbClr val="AEBBD9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Department Statistics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14015" y="4846320"/>
            <a:ext cx="498349" cy="73152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 flipV="1">
            <a:off x="4695444" y="4846320"/>
            <a:ext cx="498348" cy="73152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5193792" y="443484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VISUALIZATION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5220" y="443484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GRAPH-BASED INSIGHTS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56648" y="443484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C55A11"/>
          </a:solidFill>
          <a:ln>
            <a:noFill/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76872" y="4846320"/>
            <a:ext cx="498348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  <p:cxnSp>
        <p:nvCxnSpPr>
          <p:cNvPr id="35" name="Connector 34"/>
          <p:cNvCxnSpPr/>
          <p:nvPr/>
        </p:nvCxnSpPr>
        <p:spPr>
          <a:xfrm>
            <a:off x="9258300" y="4846320"/>
            <a:ext cx="498348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983104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B677F5-A777-DBE5-2523-7E47172B7B8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3578D-8B70-200C-1348-010FA022CE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6F4FD-F14C-34B1-BF20-4192A543E4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KEY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31536" cy="1042416"/>
          </a:xfrm>
          <a:prstGeom prst="roundRect">
            <a:avLst>
              <a:gd name="adj" fmla="val 789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371600" cy="10424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C55A11"/>
                </a:solidFill>
                <a:latin typeface="Times New Roman"/>
              </a:rPr>
              <a:t>1,000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1600200"/>
            <a:ext cx="0" cy="676656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03120" y="1417320"/>
            <a:ext cx="3739896" cy="1042416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1,000 candidates analyzed across 8 departments.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417320"/>
            <a:ext cx="5431536" cy="1042416"/>
          </a:xfrm>
          <a:prstGeom prst="roundRect">
            <a:avLst>
              <a:gd name="adj" fmla="val 789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417320"/>
            <a:ext cx="1371600" cy="10424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C55A11"/>
                </a:solidFill>
                <a:latin typeface="Times New Roman"/>
              </a:rPr>
              <a:t>67.3%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71816" y="1600200"/>
            <a:ext cx="0" cy="676656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63256" y="1417320"/>
            <a:ext cx="3739896" cy="1042416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67.3% candidates have 5+ years of experience.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24328"/>
            <a:ext cx="5431536" cy="1042416"/>
          </a:xfrm>
          <a:prstGeom prst="roundRect">
            <a:avLst>
              <a:gd name="adj" fmla="val 789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24328"/>
            <a:ext cx="1371600" cy="10424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C55A11"/>
                </a:solidFill>
                <a:latin typeface="Times New Roman"/>
              </a:rPr>
              <a:t>138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2807208"/>
            <a:ext cx="0" cy="676655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03120" y="2624328"/>
            <a:ext cx="3739896" cy="1042416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Data Analytics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recorded the highest candidates — 138.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624328"/>
            <a:ext cx="5431536" cy="1042416"/>
          </a:xfrm>
          <a:prstGeom prst="roundRect">
            <a:avLst>
              <a:gd name="adj" fmla="val 789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624328"/>
            <a:ext cx="1371600" cy="10424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C55A11"/>
                </a:solidFill>
                <a:latin typeface="Times New Roman"/>
              </a:rPr>
              <a:t>100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71816" y="2807208"/>
            <a:ext cx="0" cy="676655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63256" y="2624328"/>
            <a:ext cx="3739896" cy="1042416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Sales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recorded the lowest candidates — 100.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31336"/>
            <a:ext cx="5431536" cy="1042416"/>
          </a:xfrm>
          <a:prstGeom prst="roundRect">
            <a:avLst>
              <a:gd name="adj" fmla="val 789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31336"/>
            <a:ext cx="1371600" cy="10424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C55A11"/>
                </a:solidFill>
                <a:latin typeface="Times New Roman"/>
              </a:rPr>
              <a:t>14%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11680" y="4014216"/>
            <a:ext cx="0" cy="676656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03120" y="3831336"/>
            <a:ext cx="3739896" cy="1042416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B.Sc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had the highest qualification representation — 14%.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3831336"/>
            <a:ext cx="5431536" cy="1042416"/>
          </a:xfrm>
          <a:prstGeom prst="roundRect">
            <a:avLst>
              <a:gd name="adj" fmla="val 789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3831336"/>
            <a:ext cx="1371600" cy="10424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C55A11"/>
                </a:solidFill>
                <a:latin typeface="Times New Roman"/>
              </a:rPr>
              <a:t>11.2%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71816" y="4014216"/>
            <a:ext cx="0" cy="676656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63256" y="3831336"/>
            <a:ext cx="3739896" cy="1042416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B.Tech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had the lowest — 11.2%.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38344"/>
            <a:ext cx="5431536" cy="1042416"/>
          </a:xfrm>
          <a:prstGeom prst="roundRect">
            <a:avLst>
              <a:gd name="adj" fmla="val 789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88719" y="5468112"/>
            <a:ext cx="182880" cy="1828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011680" y="5221224"/>
            <a:ext cx="0" cy="676656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03120" y="5038344"/>
            <a:ext cx="3739896" cy="1042416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Candidate distribution across qualifications was relatively balanced.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5038344"/>
            <a:ext cx="5431536" cy="1042416"/>
          </a:xfrm>
          <a:prstGeom prst="roundRect">
            <a:avLst>
              <a:gd name="adj" fmla="val 7894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48856" y="5468112"/>
            <a:ext cx="182880" cy="1828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671816" y="5221224"/>
            <a:ext cx="0" cy="676656"/>
          </a:xfrm>
          <a:prstGeom prst="line">
            <a:avLst/>
          </a:prstGeom>
          <a:ln w="12700">
            <a:solidFill>
              <a:srgbClr val="D3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63256" y="5038344"/>
            <a:ext cx="3739896" cy="1042416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Visualizations revealed clear experience, qualification, and department-wise trends.</a:t>
            </a:r>
          </a:p>
        </p:txBody>
      </p:sp>
    </p:spTree>
    <p:extLst>
      <p:ext uri="{BB962C8B-B14F-4D97-AF65-F5344CB8AC3E}">
        <p14:creationId xmlns:p14="http://schemas.microsoft.com/office/powerpoint/2010/main" val="3660241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648AC-9332-C708-0C78-09092941DC7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30-09-2026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3185E6-D180-8E66-7357-F1211CC397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AD5D2-31E2-ABED-B58A-296F10A406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26080" y="384048"/>
            <a:ext cx="8869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1" i="0">
                <a:solidFill>
                  <a:srgbClr val="C55A11"/>
                </a:solidFill>
                <a:latin typeface="Times New Roman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31536" cy="1444752"/>
          </a:xfrm>
          <a:prstGeom prst="roundRect">
            <a:avLst>
              <a:gd name="adj" fmla="val 5696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  <a:latin typeface="Calibri"/>
              </a:rPr>
              <a:t>The project demonstrates how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Python and Pandas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can simplify HR recruitment data analysis.</a:t>
            </a:r>
          </a:p>
        </p:txBody>
      </p:sp>
      <p:sp>
        <p:nvSpPr>
          <p:cNvPr id="7" name="Oval 6"/>
          <p:cNvSpPr/>
          <p:nvPr/>
        </p:nvSpPr>
        <p:spPr>
          <a:xfrm>
            <a:off x="704088" y="194767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417320"/>
            <a:ext cx="5431536" cy="1444752"/>
          </a:xfrm>
          <a:prstGeom prst="roundRect">
            <a:avLst>
              <a:gd name="adj" fmla="val 5696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Data preprocessing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helped us make the recruitment dataset clean, consistent, and suitable for analysis.</a:t>
            </a:r>
          </a:p>
        </p:txBody>
      </p:sp>
      <p:sp>
        <p:nvSpPr>
          <p:cNvPr id="9" name="Oval 8"/>
          <p:cNvSpPr/>
          <p:nvPr/>
        </p:nvSpPr>
        <p:spPr>
          <a:xfrm>
            <a:off x="6364224" y="194767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26664"/>
            <a:ext cx="5431536" cy="1444752"/>
          </a:xfrm>
          <a:prstGeom prst="roundRect">
            <a:avLst>
              <a:gd name="adj" fmla="val 5696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  <a:latin typeface="Calibri"/>
              </a:rPr>
              <a:t>The analysis identified important patterns in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qualification, experience, and department-wise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candidate distribution.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" y="3557015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026664"/>
            <a:ext cx="5431536" cy="1444752"/>
          </a:xfrm>
          <a:prstGeom prst="roundRect">
            <a:avLst>
              <a:gd name="adj" fmla="val 5696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  <a:latin typeface="Calibri"/>
              </a:rPr>
              <a:t>Visualizations such as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bar charts, pie charts, and histograms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make recruitment trends easier to understand.</a:t>
            </a:r>
          </a:p>
        </p:txBody>
      </p:sp>
      <p:sp>
        <p:nvSpPr>
          <p:cNvPr id="13" name="Oval 12"/>
          <p:cNvSpPr/>
          <p:nvPr/>
        </p:nvSpPr>
        <p:spPr>
          <a:xfrm>
            <a:off x="6364224" y="3557015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36008"/>
            <a:ext cx="5431536" cy="1444752"/>
          </a:xfrm>
          <a:prstGeom prst="roundRect">
            <a:avLst>
              <a:gd name="adj" fmla="val 5696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Filtering candidates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based on experience and analyzing evaluation-related attributes can support systematic candidate assessment.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516636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636008"/>
            <a:ext cx="5431536" cy="1444752"/>
          </a:xfrm>
          <a:prstGeom prst="roundRect">
            <a:avLst>
              <a:gd name="adj" fmla="val 5696"/>
            </a:avLst>
          </a:prstGeom>
          <a:solidFill>
            <a:srgbClr val="F3F6FB"/>
          </a:solidFill>
          <a:ln w="9525">
            <a:solidFill>
              <a:srgbClr val="D3DAE8"/>
            </a:solidFill>
          </a:ln>
          <a:effectLst>
            <a:outerShdw blurRad="50800" dist="1905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713232" tIns="54864" rIns="182880" bIns="54864">
            <a:no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  <a:latin typeface="Calibri"/>
              </a:rPr>
              <a:t>Overall, the system provides a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structured, data-driven approach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to recruitment analysis, reducing dependence on manual examination of large candidate datasets.</a:t>
            </a:r>
          </a:p>
        </p:txBody>
      </p:sp>
      <p:sp>
        <p:nvSpPr>
          <p:cNvPr id="17" name="Oval 16"/>
          <p:cNvSpPr/>
          <p:nvPr/>
        </p:nvSpPr>
        <p:spPr>
          <a:xfrm>
            <a:off x="6364224" y="516636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14331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 dirty="0"/>
              <a:t>DAE Project                                                                Human Resource Recruitment Analysis System</a:t>
            </a:r>
          </a:p>
        </p:txBody>
      </p:sp>
      <p:pic>
        <p:nvPicPr>
          <p:cNvPr id="3" name="Picture 2" descr="Full view">
            <a:extLst>
              <a:ext uri="{FF2B5EF4-FFF2-40B4-BE49-F238E27FC236}">
                <a16:creationId xmlns:a16="http://schemas.microsoft.com/office/drawing/2014/main" id="{C8E426B0-4C32-55CB-BF96-CFC89361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90" y="1424497"/>
            <a:ext cx="8068112" cy="401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8251</TotalTime>
  <Words>1687</Words>
  <Application>Microsoft Office PowerPoint</Application>
  <PresentationFormat>Widescreen</PresentationFormat>
  <Paragraphs>225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Eras Bold ITC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Sudeepthi Vaddi</cp:lastModifiedBy>
  <cp:revision>964</cp:revision>
  <cp:lastPrinted>2023-06-09T04:58:36Z</cp:lastPrinted>
  <dcterms:created xsi:type="dcterms:W3CDTF">2019-12-14T03:50:52Z</dcterms:created>
  <dcterms:modified xsi:type="dcterms:W3CDTF">2026-09-30T16:53:39Z</dcterms:modified>
</cp:coreProperties>
</file>